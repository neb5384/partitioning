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0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6E649-F0C8-47C0-9D00-E7D4DB589F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AD642DB-42AE-4B45-A82F-6CFE5E520425}">
      <dgm:prSet/>
      <dgm:spPr/>
      <dgm:t>
        <a:bodyPr/>
        <a:lstStyle/>
        <a:p>
          <a:r>
            <a:rPr lang="fr-CH" b="1" dirty="0"/>
            <a:t>1. </a:t>
          </a:r>
          <a:r>
            <a:rPr lang="fr-CH" b="1" dirty="0">
              <a:solidFill>
                <a:srgbClr val="C00000"/>
              </a:solidFill>
            </a:rPr>
            <a:t>File listing </a:t>
          </a:r>
          <a:r>
            <a:rPr lang="fr-CH" b="1" dirty="0">
              <a:solidFill>
                <a:schemeClr val="tx1"/>
              </a:solidFill>
            </a:rPr>
            <a:t>+ </a:t>
          </a:r>
          <a:r>
            <a:rPr lang="fr-CH" b="1" dirty="0" err="1">
              <a:solidFill>
                <a:schemeClr val="tx1"/>
              </a:solidFill>
            </a:rPr>
            <a:t>pruning</a:t>
          </a:r>
          <a:r>
            <a:rPr lang="fr-CH" b="1" dirty="0">
              <a:solidFill>
                <a:schemeClr val="tx1"/>
              </a:solidFill>
            </a:rPr>
            <a:t> </a:t>
          </a:r>
          <a:r>
            <a:rPr lang="fr-CH" b="1" dirty="0"/>
            <a:t>:</a:t>
          </a:r>
          <a:r>
            <a:rPr lang="fr-CH" dirty="0"/>
            <a:t> </a:t>
          </a:r>
          <a:r>
            <a:rPr lang="fr-CH" dirty="0" err="1"/>
            <a:t>find</a:t>
          </a:r>
          <a:r>
            <a:rPr lang="fr-CH" dirty="0"/>
            <a:t> </a:t>
          </a:r>
          <a:r>
            <a:rPr lang="fr-CH" dirty="0" err="1"/>
            <a:t>every</a:t>
          </a:r>
          <a:r>
            <a:rPr lang="fr-CH" dirty="0"/>
            <a:t> partition directory, </a:t>
          </a:r>
          <a:r>
            <a:rPr lang="fr-CH" dirty="0" err="1"/>
            <a:t>keep</a:t>
          </a:r>
          <a:r>
            <a:rPr lang="fr-CH" dirty="0"/>
            <a:t> </a:t>
          </a:r>
          <a:r>
            <a:rPr lang="fr-CH" dirty="0" err="1"/>
            <a:t>only</a:t>
          </a:r>
          <a:r>
            <a:rPr lang="fr-CH" dirty="0"/>
            <a:t> the </a:t>
          </a:r>
          <a:r>
            <a:rPr lang="fr-CH" dirty="0" err="1"/>
            <a:t>ones</a:t>
          </a:r>
          <a:r>
            <a:rPr lang="fr-CH" dirty="0"/>
            <a:t> </a:t>
          </a:r>
          <a:r>
            <a:rPr lang="fr-CH" dirty="0" err="1"/>
            <a:t>matching</a:t>
          </a:r>
          <a:r>
            <a:rPr lang="fr-CH" dirty="0"/>
            <a:t> the </a:t>
          </a:r>
          <a:r>
            <a:rPr lang="fr-CH" dirty="0" err="1"/>
            <a:t>filter</a:t>
          </a:r>
          <a:r>
            <a:rPr lang="fr-CH" dirty="0"/>
            <a:t>, </a:t>
          </a:r>
          <a:r>
            <a:rPr lang="fr-CH" dirty="0" err="1"/>
            <a:t>list</a:t>
          </a:r>
          <a:r>
            <a:rPr lang="fr-CH" dirty="0"/>
            <a:t> the files </a:t>
          </a:r>
          <a:r>
            <a:rPr lang="fr-CH" dirty="0" err="1"/>
            <a:t>inside</a:t>
          </a:r>
          <a:r>
            <a:rPr lang="fr-CH" dirty="0"/>
            <a:t>.</a:t>
          </a:r>
          <a:endParaRPr lang="en-US" dirty="0"/>
        </a:p>
      </dgm:t>
    </dgm:pt>
    <dgm:pt modelId="{7D0030BA-B852-4B99-B93B-D57A25F91A29}" type="parTrans" cxnId="{F6B8BFA4-00B2-4942-AEF4-B3D23EC0F9D0}">
      <dgm:prSet/>
      <dgm:spPr/>
      <dgm:t>
        <a:bodyPr/>
        <a:lstStyle/>
        <a:p>
          <a:endParaRPr lang="en-US"/>
        </a:p>
      </dgm:t>
    </dgm:pt>
    <dgm:pt modelId="{C68F5237-589F-4AB2-BEF6-EA5435BBFD9F}" type="sibTrans" cxnId="{F6B8BFA4-00B2-4942-AEF4-B3D23EC0F9D0}">
      <dgm:prSet/>
      <dgm:spPr/>
      <dgm:t>
        <a:bodyPr/>
        <a:lstStyle/>
        <a:p>
          <a:endParaRPr lang="en-US"/>
        </a:p>
      </dgm:t>
    </dgm:pt>
    <dgm:pt modelId="{2D086C17-B092-4413-BF1F-158BA7099F45}">
      <dgm:prSet/>
      <dgm:spPr/>
      <dgm:t>
        <a:bodyPr/>
        <a:lstStyle/>
        <a:p>
          <a:r>
            <a:rPr lang="fr-CH" b="1"/>
            <a:t>2. Prepare the tasks:</a:t>
          </a:r>
          <a:r>
            <a:rPr lang="fr-CH"/>
            <a:t> build the physical plan, then one task per surviving file/split is shipped to executors.</a:t>
          </a:r>
          <a:endParaRPr lang="en-US"/>
        </a:p>
      </dgm:t>
    </dgm:pt>
    <dgm:pt modelId="{36E78F76-4E3B-4F5F-890F-83676386987F}" type="parTrans" cxnId="{87F475F0-8D16-436E-99A7-711DDC45B95C}">
      <dgm:prSet/>
      <dgm:spPr/>
      <dgm:t>
        <a:bodyPr/>
        <a:lstStyle/>
        <a:p>
          <a:endParaRPr lang="en-US"/>
        </a:p>
      </dgm:t>
    </dgm:pt>
    <dgm:pt modelId="{A57C0DA6-84B3-4C3B-9007-42779B33D78C}" type="sibTrans" cxnId="{87F475F0-8D16-436E-99A7-711DDC45B95C}">
      <dgm:prSet/>
      <dgm:spPr/>
      <dgm:t>
        <a:bodyPr/>
        <a:lstStyle/>
        <a:p>
          <a:endParaRPr lang="en-US"/>
        </a:p>
      </dgm:t>
    </dgm:pt>
    <dgm:pt modelId="{096CDBEC-79DF-4E4B-8A00-FBEA82FA7655}">
      <dgm:prSet/>
      <dgm:spPr/>
      <dgm:t>
        <a:bodyPr/>
        <a:lstStyle/>
        <a:p>
          <a:r>
            <a:rPr lang="fr-CH" b="1" dirty="0"/>
            <a:t>3. Run the </a:t>
          </a:r>
          <a:r>
            <a:rPr lang="fr-CH" b="1" dirty="0" err="1"/>
            <a:t>tasks</a:t>
          </a:r>
          <a:r>
            <a:rPr lang="fr-CH" b="1" dirty="0"/>
            <a:t> on files:</a:t>
          </a:r>
          <a:r>
            <a:rPr lang="fr-CH" dirty="0"/>
            <a:t> </a:t>
          </a:r>
          <a:r>
            <a:rPr lang="fr-CH" dirty="0" err="1"/>
            <a:t>executors</a:t>
          </a:r>
          <a:r>
            <a:rPr lang="fr-CH" dirty="0"/>
            <a:t> </a:t>
          </a:r>
          <a:r>
            <a:rPr lang="fr-CH" dirty="0">
              <a:solidFill>
                <a:srgbClr val="C00000"/>
              </a:solidFill>
            </a:rPr>
            <a:t>open the file</a:t>
          </a:r>
          <a:r>
            <a:rPr lang="fr-CH" dirty="0"/>
            <a:t>, </a:t>
          </a:r>
          <a:r>
            <a:rPr lang="fr-CH" dirty="0" err="1">
              <a:solidFill>
                <a:srgbClr val="C00000"/>
              </a:solidFill>
            </a:rPr>
            <a:t>decompress</a:t>
          </a:r>
          <a:r>
            <a:rPr lang="fr-CH" dirty="0"/>
            <a:t>, </a:t>
          </a:r>
          <a:r>
            <a:rPr lang="fr-CH" dirty="0" err="1">
              <a:solidFill>
                <a:schemeClr val="accent3"/>
              </a:solidFill>
            </a:rPr>
            <a:t>read</a:t>
          </a:r>
          <a:r>
            <a:rPr lang="fr-CH" dirty="0">
              <a:solidFill>
                <a:schemeClr val="accent3"/>
              </a:solidFill>
            </a:rPr>
            <a:t> the </a:t>
          </a:r>
          <a:r>
            <a:rPr lang="fr-CH" dirty="0" err="1">
              <a:solidFill>
                <a:schemeClr val="accent3"/>
              </a:solidFill>
            </a:rPr>
            <a:t>columns</a:t>
          </a:r>
          <a:r>
            <a:rPr lang="fr-CH" dirty="0"/>
            <a:t>, (</a:t>
          </a:r>
          <a:r>
            <a:rPr lang="fr-CH" dirty="0" err="1"/>
            <a:t>shuffle</a:t>
          </a:r>
          <a:r>
            <a:rPr lang="fr-CH" dirty="0"/>
            <a:t> partial </a:t>
          </a:r>
          <a:r>
            <a:rPr lang="fr-CH" dirty="0" err="1"/>
            <a:t>results</a:t>
          </a:r>
          <a:r>
            <a:rPr lang="fr-CH" dirty="0"/>
            <a:t> back for a final </a:t>
          </a:r>
          <a:r>
            <a:rPr lang="fr-CH" dirty="0" err="1"/>
            <a:t>reduce</a:t>
          </a:r>
          <a:r>
            <a:rPr lang="fr-CH" dirty="0"/>
            <a:t>).</a:t>
          </a:r>
          <a:endParaRPr lang="en-US" dirty="0"/>
        </a:p>
      </dgm:t>
    </dgm:pt>
    <dgm:pt modelId="{D0180CA0-2DBE-4467-A414-38AD8B862C0C}" type="parTrans" cxnId="{5D311207-23CC-4662-A4B2-523E66BB1BB4}">
      <dgm:prSet/>
      <dgm:spPr/>
      <dgm:t>
        <a:bodyPr/>
        <a:lstStyle/>
        <a:p>
          <a:endParaRPr lang="en-US"/>
        </a:p>
      </dgm:t>
    </dgm:pt>
    <dgm:pt modelId="{0621B855-C401-4970-A0D8-159A0C173A85}" type="sibTrans" cxnId="{5D311207-23CC-4662-A4B2-523E66BB1BB4}">
      <dgm:prSet/>
      <dgm:spPr/>
      <dgm:t>
        <a:bodyPr/>
        <a:lstStyle/>
        <a:p>
          <a:endParaRPr lang="en-US"/>
        </a:p>
      </dgm:t>
    </dgm:pt>
    <dgm:pt modelId="{BB436E4F-EC92-4D00-BA4C-C6AB6AB54991}" type="pres">
      <dgm:prSet presAssocID="{B2C6E649-F0C8-47C0-9D00-E7D4DB589FF0}" presName="root" presStyleCnt="0">
        <dgm:presLayoutVars>
          <dgm:dir/>
          <dgm:resizeHandles val="exact"/>
        </dgm:presLayoutVars>
      </dgm:prSet>
      <dgm:spPr/>
    </dgm:pt>
    <dgm:pt modelId="{0989DF83-F05E-4B5E-BE3E-6B31C6533A31}" type="pres">
      <dgm:prSet presAssocID="{AAD642DB-42AE-4B45-A82F-6CFE5E520425}" presName="compNode" presStyleCnt="0"/>
      <dgm:spPr/>
    </dgm:pt>
    <dgm:pt modelId="{F6BFA6C0-DC55-4E1B-ACCC-4CC9EA1C0F50}" type="pres">
      <dgm:prSet presAssocID="{AAD642DB-42AE-4B45-A82F-6CFE5E520425}" presName="bgRect" presStyleLbl="bgShp" presStyleIdx="0" presStyleCnt="3"/>
      <dgm:spPr/>
    </dgm:pt>
    <dgm:pt modelId="{5CC5C4B8-3DB2-4383-A5CC-35C93E4855D6}" type="pres">
      <dgm:prSet presAssocID="{AAD642DB-42AE-4B45-A82F-6CFE5E5204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CD3F9DCF-50F0-42A9-AA73-9B78C204A30B}" type="pres">
      <dgm:prSet presAssocID="{AAD642DB-42AE-4B45-A82F-6CFE5E520425}" presName="spaceRect" presStyleCnt="0"/>
      <dgm:spPr/>
    </dgm:pt>
    <dgm:pt modelId="{046EB27F-9B10-4252-960C-4178C560A22F}" type="pres">
      <dgm:prSet presAssocID="{AAD642DB-42AE-4B45-A82F-6CFE5E520425}" presName="parTx" presStyleLbl="revTx" presStyleIdx="0" presStyleCnt="3">
        <dgm:presLayoutVars>
          <dgm:chMax val="0"/>
          <dgm:chPref val="0"/>
        </dgm:presLayoutVars>
      </dgm:prSet>
      <dgm:spPr/>
    </dgm:pt>
    <dgm:pt modelId="{A39C8945-E91B-4EF8-B822-05B914C505C6}" type="pres">
      <dgm:prSet presAssocID="{C68F5237-589F-4AB2-BEF6-EA5435BBFD9F}" presName="sibTrans" presStyleCnt="0"/>
      <dgm:spPr/>
    </dgm:pt>
    <dgm:pt modelId="{B52C0B59-1B7C-4C00-ABFE-A36FFA32E68C}" type="pres">
      <dgm:prSet presAssocID="{2D086C17-B092-4413-BF1F-158BA7099F45}" presName="compNode" presStyleCnt="0"/>
      <dgm:spPr/>
    </dgm:pt>
    <dgm:pt modelId="{B2DF3DFA-8010-4CD7-8AE5-CA0E6C193719}" type="pres">
      <dgm:prSet presAssocID="{2D086C17-B092-4413-BF1F-158BA7099F45}" presName="bgRect" presStyleLbl="bgShp" presStyleIdx="1" presStyleCnt="3"/>
      <dgm:spPr/>
    </dgm:pt>
    <dgm:pt modelId="{DE6A4823-8E9D-49A1-90E3-A9CAF9D0D7D5}" type="pres">
      <dgm:prSet presAssocID="{2D086C17-B092-4413-BF1F-158BA7099F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C8643835-4475-48E1-A938-4BF2703B252D}" type="pres">
      <dgm:prSet presAssocID="{2D086C17-B092-4413-BF1F-158BA7099F45}" presName="spaceRect" presStyleCnt="0"/>
      <dgm:spPr/>
    </dgm:pt>
    <dgm:pt modelId="{691D1EBD-CC75-44FE-A733-9E084D27B545}" type="pres">
      <dgm:prSet presAssocID="{2D086C17-B092-4413-BF1F-158BA7099F45}" presName="parTx" presStyleLbl="revTx" presStyleIdx="1" presStyleCnt="3">
        <dgm:presLayoutVars>
          <dgm:chMax val="0"/>
          <dgm:chPref val="0"/>
        </dgm:presLayoutVars>
      </dgm:prSet>
      <dgm:spPr/>
    </dgm:pt>
    <dgm:pt modelId="{4EB53C2F-ABE1-458C-88FC-052BBD90EE25}" type="pres">
      <dgm:prSet presAssocID="{A57C0DA6-84B3-4C3B-9007-42779B33D78C}" presName="sibTrans" presStyleCnt="0"/>
      <dgm:spPr/>
    </dgm:pt>
    <dgm:pt modelId="{AF914922-477A-495E-8825-B3B40CE8D346}" type="pres">
      <dgm:prSet presAssocID="{096CDBEC-79DF-4E4B-8A00-FBEA82FA7655}" presName="compNode" presStyleCnt="0"/>
      <dgm:spPr/>
    </dgm:pt>
    <dgm:pt modelId="{FD2CC615-04A0-4E2A-B83C-3BA246109043}" type="pres">
      <dgm:prSet presAssocID="{096CDBEC-79DF-4E4B-8A00-FBEA82FA7655}" presName="bgRect" presStyleLbl="bgShp" presStyleIdx="2" presStyleCnt="3"/>
      <dgm:spPr/>
    </dgm:pt>
    <dgm:pt modelId="{BA951C96-83FC-4EFB-9C75-A5FD78B3962F}" type="pres">
      <dgm:prSet presAssocID="{096CDBEC-79DF-4E4B-8A00-FBEA82FA76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 contour"/>
        </a:ext>
      </dgm:extLst>
    </dgm:pt>
    <dgm:pt modelId="{04D55127-5543-4A0F-8900-90108B79E1A4}" type="pres">
      <dgm:prSet presAssocID="{096CDBEC-79DF-4E4B-8A00-FBEA82FA7655}" presName="spaceRect" presStyleCnt="0"/>
      <dgm:spPr/>
    </dgm:pt>
    <dgm:pt modelId="{3C0FFA3D-680C-4B97-817C-4B98FF4068D8}" type="pres">
      <dgm:prSet presAssocID="{096CDBEC-79DF-4E4B-8A00-FBEA82FA765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311207-23CC-4662-A4B2-523E66BB1BB4}" srcId="{B2C6E649-F0C8-47C0-9D00-E7D4DB589FF0}" destId="{096CDBEC-79DF-4E4B-8A00-FBEA82FA7655}" srcOrd="2" destOrd="0" parTransId="{D0180CA0-2DBE-4467-A414-38AD8B862C0C}" sibTransId="{0621B855-C401-4970-A0D8-159A0C173A85}"/>
    <dgm:cxn modelId="{C66E5218-D395-491F-82A8-00305E1DB7F6}" type="presOf" srcId="{096CDBEC-79DF-4E4B-8A00-FBEA82FA7655}" destId="{3C0FFA3D-680C-4B97-817C-4B98FF4068D8}" srcOrd="0" destOrd="0" presId="urn:microsoft.com/office/officeart/2018/2/layout/IconVerticalSolidList"/>
    <dgm:cxn modelId="{6B58DE4F-3492-41D8-993A-B00399BF045E}" type="presOf" srcId="{B2C6E649-F0C8-47C0-9D00-E7D4DB589FF0}" destId="{BB436E4F-EC92-4D00-BA4C-C6AB6AB54991}" srcOrd="0" destOrd="0" presId="urn:microsoft.com/office/officeart/2018/2/layout/IconVerticalSolidList"/>
    <dgm:cxn modelId="{F6B8BFA4-00B2-4942-AEF4-B3D23EC0F9D0}" srcId="{B2C6E649-F0C8-47C0-9D00-E7D4DB589FF0}" destId="{AAD642DB-42AE-4B45-A82F-6CFE5E520425}" srcOrd="0" destOrd="0" parTransId="{7D0030BA-B852-4B99-B93B-D57A25F91A29}" sibTransId="{C68F5237-589F-4AB2-BEF6-EA5435BBFD9F}"/>
    <dgm:cxn modelId="{F32DE3C9-AF36-4A5B-B9A3-2624298B6054}" type="presOf" srcId="{2D086C17-B092-4413-BF1F-158BA7099F45}" destId="{691D1EBD-CC75-44FE-A733-9E084D27B545}" srcOrd="0" destOrd="0" presId="urn:microsoft.com/office/officeart/2018/2/layout/IconVerticalSolidList"/>
    <dgm:cxn modelId="{87F475F0-8D16-436E-99A7-711DDC45B95C}" srcId="{B2C6E649-F0C8-47C0-9D00-E7D4DB589FF0}" destId="{2D086C17-B092-4413-BF1F-158BA7099F45}" srcOrd="1" destOrd="0" parTransId="{36E78F76-4E3B-4F5F-890F-83676386987F}" sibTransId="{A57C0DA6-84B3-4C3B-9007-42779B33D78C}"/>
    <dgm:cxn modelId="{50FB73F1-8E30-4D6B-900B-4A19E1C96ABC}" type="presOf" srcId="{AAD642DB-42AE-4B45-A82F-6CFE5E520425}" destId="{046EB27F-9B10-4252-960C-4178C560A22F}" srcOrd="0" destOrd="0" presId="urn:microsoft.com/office/officeart/2018/2/layout/IconVerticalSolidList"/>
    <dgm:cxn modelId="{D7080011-0DAC-48B4-B411-C8CB8494BCCB}" type="presParOf" srcId="{BB436E4F-EC92-4D00-BA4C-C6AB6AB54991}" destId="{0989DF83-F05E-4B5E-BE3E-6B31C6533A31}" srcOrd="0" destOrd="0" presId="urn:microsoft.com/office/officeart/2018/2/layout/IconVerticalSolidList"/>
    <dgm:cxn modelId="{451A016B-A649-4778-B779-C3EA6610433B}" type="presParOf" srcId="{0989DF83-F05E-4B5E-BE3E-6B31C6533A31}" destId="{F6BFA6C0-DC55-4E1B-ACCC-4CC9EA1C0F50}" srcOrd="0" destOrd="0" presId="urn:microsoft.com/office/officeart/2018/2/layout/IconVerticalSolidList"/>
    <dgm:cxn modelId="{21604275-32A9-4A4E-9FF2-52238F873DE9}" type="presParOf" srcId="{0989DF83-F05E-4B5E-BE3E-6B31C6533A31}" destId="{5CC5C4B8-3DB2-4383-A5CC-35C93E4855D6}" srcOrd="1" destOrd="0" presId="urn:microsoft.com/office/officeart/2018/2/layout/IconVerticalSolidList"/>
    <dgm:cxn modelId="{4B032FD2-F92F-4486-9FCC-61EC3AC43A25}" type="presParOf" srcId="{0989DF83-F05E-4B5E-BE3E-6B31C6533A31}" destId="{CD3F9DCF-50F0-42A9-AA73-9B78C204A30B}" srcOrd="2" destOrd="0" presId="urn:microsoft.com/office/officeart/2018/2/layout/IconVerticalSolidList"/>
    <dgm:cxn modelId="{2A3BBC4E-614D-4E15-91AB-5DAF7EB0CF41}" type="presParOf" srcId="{0989DF83-F05E-4B5E-BE3E-6B31C6533A31}" destId="{046EB27F-9B10-4252-960C-4178C560A22F}" srcOrd="3" destOrd="0" presId="urn:microsoft.com/office/officeart/2018/2/layout/IconVerticalSolidList"/>
    <dgm:cxn modelId="{D8E0CAED-DDD0-4B65-AF98-3BCC7A037000}" type="presParOf" srcId="{BB436E4F-EC92-4D00-BA4C-C6AB6AB54991}" destId="{A39C8945-E91B-4EF8-B822-05B914C505C6}" srcOrd="1" destOrd="0" presId="urn:microsoft.com/office/officeart/2018/2/layout/IconVerticalSolidList"/>
    <dgm:cxn modelId="{8D33F0A6-6A18-453A-B060-30BA99801F05}" type="presParOf" srcId="{BB436E4F-EC92-4D00-BA4C-C6AB6AB54991}" destId="{B52C0B59-1B7C-4C00-ABFE-A36FFA32E68C}" srcOrd="2" destOrd="0" presId="urn:microsoft.com/office/officeart/2018/2/layout/IconVerticalSolidList"/>
    <dgm:cxn modelId="{8680F069-9D43-4BAE-A9FA-37154BE94716}" type="presParOf" srcId="{B52C0B59-1B7C-4C00-ABFE-A36FFA32E68C}" destId="{B2DF3DFA-8010-4CD7-8AE5-CA0E6C193719}" srcOrd="0" destOrd="0" presId="urn:microsoft.com/office/officeart/2018/2/layout/IconVerticalSolidList"/>
    <dgm:cxn modelId="{28C8FC2C-43AB-4AFA-9073-2DF9DBFA9B9E}" type="presParOf" srcId="{B52C0B59-1B7C-4C00-ABFE-A36FFA32E68C}" destId="{DE6A4823-8E9D-49A1-90E3-A9CAF9D0D7D5}" srcOrd="1" destOrd="0" presId="urn:microsoft.com/office/officeart/2018/2/layout/IconVerticalSolidList"/>
    <dgm:cxn modelId="{56C3B402-3476-4BA4-80A4-82D11183FD4E}" type="presParOf" srcId="{B52C0B59-1B7C-4C00-ABFE-A36FFA32E68C}" destId="{C8643835-4475-48E1-A938-4BF2703B252D}" srcOrd="2" destOrd="0" presId="urn:microsoft.com/office/officeart/2018/2/layout/IconVerticalSolidList"/>
    <dgm:cxn modelId="{452DA288-2591-48FB-8735-3443CE7BF6F8}" type="presParOf" srcId="{B52C0B59-1B7C-4C00-ABFE-A36FFA32E68C}" destId="{691D1EBD-CC75-44FE-A733-9E084D27B545}" srcOrd="3" destOrd="0" presId="urn:microsoft.com/office/officeart/2018/2/layout/IconVerticalSolidList"/>
    <dgm:cxn modelId="{EAE07685-3D4D-4AF6-A149-769943A5D3CB}" type="presParOf" srcId="{BB436E4F-EC92-4D00-BA4C-C6AB6AB54991}" destId="{4EB53C2F-ABE1-458C-88FC-052BBD90EE25}" srcOrd="3" destOrd="0" presId="urn:microsoft.com/office/officeart/2018/2/layout/IconVerticalSolidList"/>
    <dgm:cxn modelId="{C272DB0B-58E0-4001-9138-C737C0457146}" type="presParOf" srcId="{BB436E4F-EC92-4D00-BA4C-C6AB6AB54991}" destId="{AF914922-477A-495E-8825-B3B40CE8D346}" srcOrd="4" destOrd="0" presId="urn:microsoft.com/office/officeart/2018/2/layout/IconVerticalSolidList"/>
    <dgm:cxn modelId="{A65882C6-A77F-45C4-8FFE-B6BA17EEE046}" type="presParOf" srcId="{AF914922-477A-495E-8825-B3B40CE8D346}" destId="{FD2CC615-04A0-4E2A-B83C-3BA246109043}" srcOrd="0" destOrd="0" presId="urn:microsoft.com/office/officeart/2018/2/layout/IconVerticalSolidList"/>
    <dgm:cxn modelId="{4A3F91D0-86EC-4680-9FC3-21AC699DB093}" type="presParOf" srcId="{AF914922-477A-495E-8825-B3B40CE8D346}" destId="{BA951C96-83FC-4EFB-9C75-A5FD78B3962F}" srcOrd="1" destOrd="0" presId="urn:microsoft.com/office/officeart/2018/2/layout/IconVerticalSolidList"/>
    <dgm:cxn modelId="{6AD7B33E-0C41-4865-9C5A-4750421E8B3F}" type="presParOf" srcId="{AF914922-477A-495E-8825-B3B40CE8D346}" destId="{04D55127-5543-4A0F-8900-90108B79E1A4}" srcOrd="2" destOrd="0" presId="urn:microsoft.com/office/officeart/2018/2/layout/IconVerticalSolidList"/>
    <dgm:cxn modelId="{9B4DFEE8-0BFC-4305-A98D-E506EA19187E}" type="presParOf" srcId="{AF914922-477A-495E-8825-B3B40CE8D346}" destId="{3C0FFA3D-680C-4B97-817C-4B98FF4068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FA6C0-DC55-4E1B-ACCC-4CC9EA1C0F5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5C4B8-3DB2-4383-A5CC-35C93E4855D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EB27F-9B10-4252-960C-4178C560A22F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b="1" kern="1200" dirty="0"/>
            <a:t>1. </a:t>
          </a:r>
          <a:r>
            <a:rPr lang="fr-CH" sz="2400" b="1" kern="1200" dirty="0">
              <a:solidFill>
                <a:srgbClr val="C00000"/>
              </a:solidFill>
            </a:rPr>
            <a:t>File listing </a:t>
          </a:r>
          <a:r>
            <a:rPr lang="fr-CH" sz="2400" b="1" kern="1200" dirty="0">
              <a:solidFill>
                <a:schemeClr val="tx1"/>
              </a:solidFill>
            </a:rPr>
            <a:t>+ </a:t>
          </a:r>
          <a:r>
            <a:rPr lang="fr-CH" sz="2400" b="1" kern="1200" dirty="0" err="1">
              <a:solidFill>
                <a:schemeClr val="tx1"/>
              </a:solidFill>
            </a:rPr>
            <a:t>pruning</a:t>
          </a:r>
          <a:r>
            <a:rPr lang="fr-CH" sz="2400" b="1" kern="1200" dirty="0">
              <a:solidFill>
                <a:schemeClr val="tx1"/>
              </a:solidFill>
            </a:rPr>
            <a:t> </a:t>
          </a:r>
          <a:r>
            <a:rPr lang="fr-CH" sz="2400" b="1" kern="1200" dirty="0"/>
            <a:t>:</a:t>
          </a:r>
          <a:r>
            <a:rPr lang="fr-CH" sz="2400" kern="1200" dirty="0"/>
            <a:t> </a:t>
          </a:r>
          <a:r>
            <a:rPr lang="fr-CH" sz="2400" kern="1200" dirty="0" err="1"/>
            <a:t>find</a:t>
          </a:r>
          <a:r>
            <a:rPr lang="fr-CH" sz="2400" kern="1200" dirty="0"/>
            <a:t> </a:t>
          </a:r>
          <a:r>
            <a:rPr lang="fr-CH" sz="2400" kern="1200" dirty="0" err="1"/>
            <a:t>every</a:t>
          </a:r>
          <a:r>
            <a:rPr lang="fr-CH" sz="2400" kern="1200" dirty="0"/>
            <a:t> partition directory, </a:t>
          </a:r>
          <a:r>
            <a:rPr lang="fr-CH" sz="2400" kern="1200" dirty="0" err="1"/>
            <a:t>keep</a:t>
          </a:r>
          <a:r>
            <a:rPr lang="fr-CH" sz="2400" kern="1200" dirty="0"/>
            <a:t> </a:t>
          </a:r>
          <a:r>
            <a:rPr lang="fr-CH" sz="2400" kern="1200" dirty="0" err="1"/>
            <a:t>only</a:t>
          </a:r>
          <a:r>
            <a:rPr lang="fr-CH" sz="2400" kern="1200" dirty="0"/>
            <a:t> the </a:t>
          </a:r>
          <a:r>
            <a:rPr lang="fr-CH" sz="2400" kern="1200" dirty="0" err="1"/>
            <a:t>ones</a:t>
          </a:r>
          <a:r>
            <a:rPr lang="fr-CH" sz="2400" kern="1200" dirty="0"/>
            <a:t> </a:t>
          </a:r>
          <a:r>
            <a:rPr lang="fr-CH" sz="2400" kern="1200" dirty="0" err="1"/>
            <a:t>matching</a:t>
          </a:r>
          <a:r>
            <a:rPr lang="fr-CH" sz="2400" kern="1200" dirty="0"/>
            <a:t> the </a:t>
          </a:r>
          <a:r>
            <a:rPr lang="fr-CH" sz="2400" kern="1200" dirty="0" err="1"/>
            <a:t>filter</a:t>
          </a:r>
          <a:r>
            <a:rPr lang="fr-CH" sz="2400" kern="1200" dirty="0"/>
            <a:t>, </a:t>
          </a:r>
          <a:r>
            <a:rPr lang="fr-CH" sz="2400" kern="1200" dirty="0" err="1"/>
            <a:t>list</a:t>
          </a:r>
          <a:r>
            <a:rPr lang="fr-CH" sz="2400" kern="1200" dirty="0"/>
            <a:t> the files </a:t>
          </a:r>
          <a:r>
            <a:rPr lang="fr-CH" sz="2400" kern="1200" dirty="0" err="1"/>
            <a:t>inside</a:t>
          </a:r>
          <a:r>
            <a:rPr lang="fr-CH" sz="2400" kern="1200" dirty="0"/>
            <a:t>.</a:t>
          </a:r>
          <a:endParaRPr lang="en-US" sz="2400" kern="1200" dirty="0"/>
        </a:p>
      </dsp:txBody>
      <dsp:txXfrm>
        <a:off x="1435590" y="531"/>
        <a:ext cx="9080009" cy="1242935"/>
      </dsp:txXfrm>
    </dsp:sp>
    <dsp:sp modelId="{B2DF3DFA-8010-4CD7-8AE5-CA0E6C19371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A4823-8E9D-49A1-90E3-A9CAF9D0D7D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D1EBD-CC75-44FE-A733-9E084D27B54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b="1" kern="1200"/>
            <a:t>2. Prepare the tasks:</a:t>
          </a:r>
          <a:r>
            <a:rPr lang="fr-CH" sz="2400" kern="1200"/>
            <a:t> build the physical plan, then one task per surviving file/split is shipped to executors.</a:t>
          </a:r>
          <a:endParaRPr lang="en-US" sz="2400" kern="1200"/>
        </a:p>
      </dsp:txBody>
      <dsp:txXfrm>
        <a:off x="1435590" y="1554201"/>
        <a:ext cx="9080009" cy="1242935"/>
      </dsp:txXfrm>
    </dsp:sp>
    <dsp:sp modelId="{FD2CC615-04A0-4E2A-B83C-3BA246109043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51C96-83FC-4EFB-9C75-A5FD78B3962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FFA3D-680C-4B97-817C-4B98FF4068D8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b="1" kern="1200" dirty="0"/>
            <a:t>3. Run the </a:t>
          </a:r>
          <a:r>
            <a:rPr lang="fr-CH" sz="2400" b="1" kern="1200" dirty="0" err="1"/>
            <a:t>tasks</a:t>
          </a:r>
          <a:r>
            <a:rPr lang="fr-CH" sz="2400" b="1" kern="1200" dirty="0"/>
            <a:t> on files:</a:t>
          </a:r>
          <a:r>
            <a:rPr lang="fr-CH" sz="2400" kern="1200" dirty="0"/>
            <a:t> </a:t>
          </a:r>
          <a:r>
            <a:rPr lang="fr-CH" sz="2400" kern="1200" dirty="0" err="1"/>
            <a:t>executors</a:t>
          </a:r>
          <a:r>
            <a:rPr lang="fr-CH" sz="2400" kern="1200" dirty="0"/>
            <a:t> </a:t>
          </a:r>
          <a:r>
            <a:rPr lang="fr-CH" sz="2400" kern="1200" dirty="0">
              <a:solidFill>
                <a:srgbClr val="C00000"/>
              </a:solidFill>
            </a:rPr>
            <a:t>open the file</a:t>
          </a:r>
          <a:r>
            <a:rPr lang="fr-CH" sz="2400" kern="1200" dirty="0"/>
            <a:t>, </a:t>
          </a:r>
          <a:r>
            <a:rPr lang="fr-CH" sz="2400" kern="1200" dirty="0" err="1">
              <a:solidFill>
                <a:srgbClr val="C00000"/>
              </a:solidFill>
            </a:rPr>
            <a:t>decompress</a:t>
          </a:r>
          <a:r>
            <a:rPr lang="fr-CH" sz="2400" kern="1200" dirty="0"/>
            <a:t>, </a:t>
          </a:r>
          <a:r>
            <a:rPr lang="fr-CH" sz="2400" kern="1200" dirty="0" err="1">
              <a:solidFill>
                <a:schemeClr val="accent3"/>
              </a:solidFill>
            </a:rPr>
            <a:t>read</a:t>
          </a:r>
          <a:r>
            <a:rPr lang="fr-CH" sz="2400" kern="1200" dirty="0">
              <a:solidFill>
                <a:schemeClr val="accent3"/>
              </a:solidFill>
            </a:rPr>
            <a:t> the </a:t>
          </a:r>
          <a:r>
            <a:rPr lang="fr-CH" sz="2400" kern="1200" dirty="0" err="1">
              <a:solidFill>
                <a:schemeClr val="accent3"/>
              </a:solidFill>
            </a:rPr>
            <a:t>columns</a:t>
          </a:r>
          <a:r>
            <a:rPr lang="fr-CH" sz="2400" kern="1200" dirty="0"/>
            <a:t>, (</a:t>
          </a:r>
          <a:r>
            <a:rPr lang="fr-CH" sz="2400" kern="1200" dirty="0" err="1"/>
            <a:t>shuffle</a:t>
          </a:r>
          <a:r>
            <a:rPr lang="fr-CH" sz="2400" kern="1200" dirty="0"/>
            <a:t> partial </a:t>
          </a:r>
          <a:r>
            <a:rPr lang="fr-CH" sz="2400" kern="1200" dirty="0" err="1"/>
            <a:t>results</a:t>
          </a:r>
          <a:r>
            <a:rPr lang="fr-CH" sz="2400" kern="1200" dirty="0"/>
            <a:t> back for a final </a:t>
          </a:r>
          <a:r>
            <a:rPr lang="fr-CH" sz="2400" kern="1200" dirty="0" err="1"/>
            <a:t>reduce</a:t>
          </a:r>
          <a:r>
            <a:rPr lang="fr-CH" sz="2400" kern="1200" dirty="0"/>
            <a:t>).</a:t>
          </a:r>
          <a:endParaRPr lang="en-US" sz="2400" kern="1200" dirty="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56503-F03E-42AE-8BCD-24573D4B2275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23580-B400-48A4-A090-A2068253D32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102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042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25B50-8C62-68DB-68A1-811023083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5F1AAF-2DFE-0D01-4D5D-5A4D06A60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A7193F-BA52-EF8D-D8B4-5FA2FC0C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ECC2CC-362E-679D-39BF-B44E783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F8967E-6CCA-A888-04BD-7845B328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440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76BF8-DF6B-5E9B-4EF3-604421A0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CE7FCE-C813-50CF-9C75-3463D2F30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2B2A9-1B97-65DA-88CD-92259B74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7DBFD2-0B60-6104-FB88-ECB835E9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9EB7DC-20B2-E6CB-CC81-BB80507F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811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8E1FB-070B-3DAE-F265-FAF911E6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368D88-080D-6167-8BC1-9152EFF7F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85B5E6-F2E6-AF8B-833B-0D8CE869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538E39-E617-22D2-F5EA-8B0E6963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4C9DD0-CD6E-8125-F254-506FD7F2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664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72488-A807-6D99-7768-C76E7FAA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3F9A6E-FAB6-8D6D-251F-B26DF7B16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2D32AF-4644-ED6C-4625-088B1E35B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10EB09-6EE4-E5FB-E006-A228D348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0B7315-B356-1111-DAA7-A43AB506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896B74-B737-A567-7555-63C00F09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3899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C8D03-7CEB-CC26-E691-304A6C7B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25355D-D439-1FCF-91CF-143BB0185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8B192C-DA65-7956-69EE-825FC15BB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488C6-3CA0-93A3-10F8-C6F8EB193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CB52E9-F385-BEA5-A65B-8D1473C19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2255A1-6BD8-1736-6A8D-0E23080E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BDAAA4-0042-02CB-FD16-2C7F2F03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9CA8D3-E7FA-23BE-2607-1912E7C7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982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B1002-8835-BDFB-8BD3-7AA20643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8E5AD0-C032-ECD8-DB52-781C96B0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CABCAB-48EF-3C9C-5E60-562CC53B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CC762-2422-E334-D911-7CA52284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6651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1458B5-B9FC-7CF4-2367-9A21F115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EC1347-CD2A-53FA-356E-B6090948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372CC2-F6A3-FD28-4BE9-C545E4F1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725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D61CF-6F80-1F94-C4C1-47DF402E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384DD-C720-C4F2-5A48-647DF4670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78F2C8-6887-84A7-8893-50BCBF1A3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48A908-9CD4-C831-CA23-8D7B45F9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72B06C-E0FC-8D1E-BF6E-A8B3B1CD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7E255B-8818-1DC1-BEED-3EFCA8D3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1400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0C6B2-5FA3-11F7-2C4F-86DB5BD4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B3D56B-2170-9290-D43F-A3AA9D1EE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625BA7-A69D-790A-3840-071E0FF36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3E4807-93F3-C666-9148-5CCCA65E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F4F432-87CB-F781-A032-2EE21BC4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D2340B-B193-32D6-1A7C-5B62201A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840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B72E6-45C9-8193-A857-65F724B9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2838F1-BE37-8E7C-C5C0-C8C080998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F6254F-DA0B-2928-8E85-14CE3103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B0679D-C061-471E-30E6-9577504A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CF7518-0A18-8A35-CD1C-A9F0A197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20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0C06982-8535-DAD1-5FF3-41562C620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5A3712-910F-9283-31D8-8F209A1F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61BB4C-03B9-9825-B10F-4A1C64AD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AE8564-2504-0DAA-D713-9AD8BC91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967876-9DDC-6D3F-8865-E89E79EE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57727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9319557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1004" y="1340768"/>
            <a:ext cx="11687472" cy="49219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mtClean="0"/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fr-CH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7B77E73-1B83-A8F2-6760-FDC70B6725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0560" y="373656"/>
            <a:ext cx="2486401" cy="63407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3CA235-0F3F-46FF-574F-B1C459BEF8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Prof. Grégory Mermoud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AD17D3-E180-02EA-D1B9-7A03DC3A3C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>
                <a:solidFill>
                  <a:prstClr val="black">
                    <a:lumMod val="65000"/>
                    <a:lumOff val="35000"/>
                  </a:prstClr>
                </a:solidFill>
              </a:rPr>
              <a:t>ISC – 203.3 – Engineering in Computer Science	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E35582-4DE6-C356-9109-3E25DBDC5A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56420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7D0800-CCB4-E808-C3E9-18A33695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2454B0-FC52-46AD-5D97-4E141E9F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AEE780-2AED-5FEB-B6A2-4AFDD5DD9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A8663-3A33-4D99-A0DD-CF9F1D707ADE}" type="datetimeFigureOut">
              <a:rPr lang="fr-CH" smtClean="0"/>
              <a:t>27.09.26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37C5EC-CCD6-D31B-6359-F6AC00830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9431E4-C7D7-4495-A545-1C92BD74F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72554-3174-4BCB-81B0-511868D99687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852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37709C-5C4E-DC25-5AED-01EE25A1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Partitioning and the small-files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DC49-B1E9-44DC-21B4-51974DAC41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5136" y="1584697"/>
            <a:ext cx="11277122" cy="2718149"/>
          </a:xfrm>
        </p:spPr>
        <p:txBody>
          <a:bodyPr>
            <a:noAutofit/>
          </a:bodyPr>
          <a:lstStyle/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let queries skip irrelevant data, a dataset can be partitioned: stored in one directory per value of a column (for example, per day). </a:t>
            </a:r>
          </a:p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file opened has a fixed cost, so partitioning too finely creates many tiny files, and a query spanning many partitions can end up slower than with a coarser partition.</a:t>
            </a:r>
          </a:p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presentation, we will see where that time is lost and how to choose a partition granularity that fits the way the data is queried.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DEA16-8C18-24E9-DD30-C5ECECE2907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Benno Weber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8C3AF-C107-31DB-370E-88026BA544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>
                    <a:lumMod val="65000"/>
                    <a:lumOff val="35000"/>
                  </a:prstClr>
                </a:solidFill>
              </a:rPr>
              <a:t>302.1 – Data infrastructure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18DB83-F51D-B882-289E-50877A65A276}"/>
              </a:ext>
            </a:extLst>
          </p:cNvPr>
          <p:cNvSpPr txBox="1">
            <a:spLocks/>
          </p:cNvSpPr>
          <p:nvPr/>
        </p:nvSpPr>
        <p:spPr>
          <a:xfrm>
            <a:off x="241003" y="1152309"/>
            <a:ext cx="11687472" cy="625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6A5759-92F7-E57C-2E25-E4E8CF7F3372}"/>
              </a:ext>
            </a:extLst>
          </p:cNvPr>
          <p:cNvSpPr txBox="1">
            <a:spLocks/>
          </p:cNvSpPr>
          <p:nvPr/>
        </p:nvSpPr>
        <p:spPr>
          <a:xfrm>
            <a:off x="263525" y="3475739"/>
            <a:ext cx="11687472" cy="625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Questions: </a:t>
            </a:r>
          </a:p>
          <a:p>
            <a:pPr marL="0" indent="0">
              <a:buNone/>
            </a:pPr>
            <a:endParaRPr lang="en-GB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CD80FC-CD27-DA55-5E5E-D5D8FC59B967}"/>
              </a:ext>
            </a:extLst>
          </p:cNvPr>
          <p:cNvSpPr txBox="1">
            <a:spLocks/>
          </p:cNvSpPr>
          <p:nvPr/>
        </p:nvSpPr>
        <p:spPr>
          <a:xfrm>
            <a:off x="685136" y="5217091"/>
            <a:ext cx="11277122" cy="16409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Blip>
                <a:blip r:embed="rId3"/>
              </a:buBlip>
            </a:pPr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E32477-AB77-4419-A5F0-10F4726B2EE1}"/>
              </a:ext>
            </a:extLst>
          </p:cNvPr>
          <p:cNvSpPr txBox="1">
            <a:spLocks/>
          </p:cNvSpPr>
          <p:nvPr/>
        </p:nvSpPr>
        <p:spPr>
          <a:xfrm>
            <a:off x="651353" y="3805687"/>
            <a:ext cx="11277122" cy="14602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does partitioning speed up a query?</a:t>
            </a:r>
          </a:p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can partitioning make a query slower?</a:t>
            </a:r>
          </a:p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choose the right partition granularity?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E4B38F1-DD9F-12E5-CB4D-2CFB20FF98CE}"/>
              </a:ext>
            </a:extLst>
          </p:cNvPr>
          <p:cNvSpPr txBox="1">
            <a:spLocks/>
          </p:cNvSpPr>
          <p:nvPr/>
        </p:nvSpPr>
        <p:spPr>
          <a:xfrm>
            <a:off x="263525" y="5016675"/>
            <a:ext cx="11687472" cy="625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Demo:</a:t>
            </a:r>
          </a:p>
          <a:p>
            <a:pPr marL="0" indent="0">
              <a:buNone/>
            </a:pPr>
            <a:endParaRPr lang="en-GB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BD6A428-605E-DE63-61FE-24127C955129}"/>
              </a:ext>
            </a:extLst>
          </p:cNvPr>
          <p:cNvSpPr txBox="1">
            <a:spLocks/>
          </p:cNvSpPr>
          <p:nvPr/>
        </p:nvSpPr>
        <p:spPr>
          <a:xfrm>
            <a:off x="651353" y="5346623"/>
            <a:ext cx="11277122" cy="14602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CH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will partition the </a:t>
            </a:r>
            <a:r>
              <a:rPr lang="en-GB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MeteoSwiss</a:t>
            </a: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measurements in two ways, per day and per year.</a:t>
            </a:r>
          </a:p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 run a single-day query and a three-year query on both, and compare the read times and number of files opened.</a:t>
            </a:r>
          </a:p>
        </p:txBody>
      </p:sp>
    </p:spTree>
    <p:extLst>
      <p:ext uri="{BB962C8B-B14F-4D97-AF65-F5344CB8AC3E}">
        <p14:creationId xmlns:p14="http://schemas.microsoft.com/office/powerpoint/2010/main" val="489311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8" grpId="0" build="p"/>
      <p:bldP spid="9" grpId="0" build="p"/>
      <p:bldP spid="11" grpId="0" build="p"/>
      <p:bldP spid="12" grpId="0" build="p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78D0D-7A63-7BC8-90CB-C9F03F88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partitioning</a:t>
            </a:r>
            <a:r>
              <a:rPr lang="fr-FR" dirty="0"/>
              <a:t> and </a:t>
            </a:r>
            <a:r>
              <a:rPr lang="fr-FR" dirty="0" err="1"/>
              <a:t>why</a:t>
            </a:r>
            <a:r>
              <a:rPr lang="fr-FR" dirty="0"/>
              <a:t> use </a:t>
            </a:r>
            <a:r>
              <a:rPr lang="fr-FR" dirty="0" err="1"/>
              <a:t>it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295F83-3482-61AB-2735-2F7D7F5FA2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FR" dirty="0" err="1"/>
              <a:t>Divide</a:t>
            </a:r>
            <a:r>
              <a:rPr lang="fr-FR" dirty="0"/>
              <a:t> a big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multiple </a:t>
            </a:r>
            <a:r>
              <a:rPr lang="fr-FR" dirty="0" err="1"/>
              <a:t>smaller</a:t>
            </a:r>
            <a:r>
              <a:rPr lang="fr-FR" dirty="0"/>
              <a:t> files</a:t>
            </a:r>
          </a:p>
          <a:p>
            <a:r>
              <a:rPr lang="fr-FR" dirty="0"/>
              <a:t>A </a:t>
            </a:r>
            <a:r>
              <a:rPr lang="fr-FR" dirty="0" err="1"/>
              <a:t>selected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CH" dirty="0" err="1"/>
              <a:t>becomes</a:t>
            </a:r>
            <a:r>
              <a:rPr lang="fr-CH" dirty="0"/>
              <a:t> part of the file </a:t>
            </a:r>
            <a:r>
              <a:rPr lang="fr-CH" dirty="0" err="1"/>
              <a:t>path</a:t>
            </a:r>
            <a:endParaRPr lang="fr-CH" dirty="0"/>
          </a:p>
          <a:p>
            <a:endParaRPr lang="fr-CH" dirty="0"/>
          </a:p>
          <a:p>
            <a:r>
              <a:rPr lang="fr-CH" dirty="0"/>
              <a:t>Partition </a:t>
            </a:r>
            <a:r>
              <a:rPr lang="fr-CH" dirty="0" err="1"/>
              <a:t>pruning</a:t>
            </a:r>
            <a:r>
              <a:rPr lang="fr-CH" dirty="0"/>
              <a:t>: the engine can look at the </a:t>
            </a:r>
            <a:r>
              <a:rPr lang="fr-CH" dirty="0" err="1"/>
              <a:t>path</a:t>
            </a:r>
            <a:r>
              <a:rPr lang="fr-CH" dirty="0"/>
              <a:t> </a:t>
            </a:r>
            <a:r>
              <a:rPr lang="fr-CH" dirty="0" err="1"/>
              <a:t>instead</a:t>
            </a:r>
            <a:r>
              <a:rPr lang="fr-CH" dirty="0"/>
              <a:t> of the data to </a:t>
            </a:r>
            <a:r>
              <a:rPr lang="fr-CH" dirty="0" err="1"/>
              <a:t>decide</a:t>
            </a:r>
            <a:r>
              <a:rPr lang="fr-CH" dirty="0"/>
              <a:t> </a:t>
            </a:r>
            <a:r>
              <a:rPr lang="fr-CH" dirty="0" err="1"/>
              <a:t>what</a:t>
            </a:r>
            <a:r>
              <a:rPr lang="fr-CH" dirty="0"/>
              <a:t> to skip, and </a:t>
            </a:r>
            <a:r>
              <a:rPr lang="fr-CH" dirty="0" err="1"/>
              <a:t>only</a:t>
            </a:r>
            <a:r>
              <a:rPr lang="fr-CH" dirty="0"/>
              <a:t> use relevant files to the </a:t>
            </a:r>
            <a:r>
              <a:rPr lang="fr-CH" dirty="0" err="1"/>
              <a:t>request</a:t>
            </a:r>
            <a:r>
              <a:rPr lang="fr-CH" dirty="0"/>
              <a:t>.</a:t>
            </a:r>
          </a:p>
          <a:p>
            <a:r>
              <a:rPr lang="fr-CH" dirty="0" err="1"/>
              <a:t>Less</a:t>
            </a:r>
            <a:r>
              <a:rPr lang="fr-CH" dirty="0"/>
              <a:t> I/O, </a:t>
            </a:r>
            <a:r>
              <a:rPr lang="fr-CH" dirty="0" err="1"/>
              <a:t>less</a:t>
            </a:r>
            <a:r>
              <a:rPr lang="fr-CH" dirty="0"/>
              <a:t> data </a:t>
            </a:r>
            <a:r>
              <a:rPr lang="fr-CH" dirty="0" err="1"/>
              <a:t>shipped</a:t>
            </a:r>
            <a:r>
              <a:rPr lang="fr-CH" dirty="0"/>
              <a:t> over the network/</a:t>
            </a:r>
            <a:r>
              <a:rPr lang="fr-CH" dirty="0" err="1"/>
              <a:t>disk</a:t>
            </a:r>
            <a:r>
              <a:rPr lang="fr-CH" dirty="0"/>
              <a:t>, </a:t>
            </a:r>
            <a:r>
              <a:rPr lang="fr-CH" dirty="0" err="1"/>
              <a:t>faster</a:t>
            </a:r>
            <a:r>
              <a:rPr lang="fr-CH" dirty="0"/>
              <a:t> </a:t>
            </a:r>
            <a:r>
              <a:rPr lang="fr-CH" dirty="0" err="1"/>
              <a:t>query</a:t>
            </a:r>
            <a:endParaRPr lang="fr-CH" dirty="0"/>
          </a:p>
          <a:p>
            <a:endParaRPr lang="fr-CH" dirty="0"/>
          </a:p>
          <a:p>
            <a:endParaRPr lang="fr-FR" dirty="0"/>
          </a:p>
        </p:txBody>
      </p:sp>
      <p:pic>
        <p:nvPicPr>
          <p:cNvPr id="3076" name="Picture 4" descr="Multi-Column List Partitioning in Oracle Database 12c Release 2 (12.2) -  ORACLE-BASE">
            <a:extLst>
              <a:ext uri="{FF2B5EF4-FFF2-40B4-BE49-F238E27FC236}">
                <a16:creationId xmlns:a16="http://schemas.microsoft.com/office/drawing/2014/main" id="{7AA1A1B4-9526-E8F2-4CEF-88BCAE77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122" y="4237688"/>
            <a:ext cx="7277144" cy="255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4963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F8155-D1C7-9DA5-626D-37835CF8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takes</a:t>
            </a:r>
            <a:r>
              <a:rPr lang="fr-FR" dirty="0"/>
              <a:t> time in a Spark </a:t>
            </a:r>
            <a:r>
              <a:rPr lang="fr-FR" dirty="0" err="1"/>
              <a:t>query</a:t>
            </a: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DAA3C74-B46D-1178-7ADF-7AB4ECFF0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4628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387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88142-7F25-B406-A6DB-784A7C5B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Delta </a:t>
            </a:r>
            <a:r>
              <a:rPr lang="fr-FR" dirty="0" err="1"/>
              <a:t>lake</a:t>
            </a:r>
            <a:endParaRPr lang="fr-FR" dirty="0"/>
          </a:p>
        </p:txBody>
      </p:sp>
      <p:sp>
        <p:nvSpPr>
          <p:cNvPr id="2055" name="Text Placeholder 2">
            <a:extLst>
              <a:ext uri="{FF2B5EF4-FFF2-40B4-BE49-F238E27FC236}">
                <a16:creationId xmlns:a16="http://schemas.microsoft.com/office/drawing/2014/main" id="{CC6D3B0D-6926-02D8-5A9D-02CB45A22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2020A8-A496-8AFB-7154-69D2D7014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r>
              <a:rPr lang="fr-FR" dirty="0"/>
              <a:t>Delta transaction log on top of parquet files</a:t>
            </a:r>
          </a:p>
          <a:p>
            <a:r>
              <a:rPr lang="fr-FR" dirty="0" err="1"/>
              <a:t>Instead</a:t>
            </a:r>
            <a:r>
              <a:rPr lang="fr-FR" dirty="0"/>
              <a:t> of listing files for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,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the log</a:t>
            </a:r>
          </a:p>
          <a:p>
            <a:r>
              <a:rPr lang="fr-FR" dirty="0"/>
              <a:t>Fixes listing </a:t>
            </a:r>
            <a:r>
              <a:rPr lang="fr-FR" dirty="0" err="1"/>
              <a:t>cost</a:t>
            </a:r>
            <a:r>
              <a:rPr lang="fr-FR" dirty="0"/>
              <a:t>, but not file </a:t>
            </a:r>
            <a:r>
              <a:rPr lang="fr-FR" dirty="0" err="1"/>
              <a:t>opening</a:t>
            </a:r>
            <a:r>
              <a:rPr lang="fr-FR" dirty="0"/>
              <a:t> </a:t>
            </a:r>
            <a:r>
              <a:rPr lang="fr-FR" dirty="0" err="1"/>
              <a:t>cost</a:t>
            </a:r>
            <a:endParaRPr lang="fr-FR" dirty="0"/>
          </a:p>
          <a:p>
            <a:endParaRPr lang="fr-FR" dirty="0"/>
          </a:p>
        </p:txBody>
      </p:sp>
      <p:sp>
        <p:nvSpPr>
          <p:cNvPr id="2057" name="Text Placeholder 4">
            <a:extLst>
              <a:ext uri="{FF2B5EF4-FFF2-40B4-BE49-F238E27FC236}">
                <a16:creationId xmlns:a16="http://schemas.microsoft.com/office/drawing/2014/main" id="{3714F4D2-100C-CD5F-FEEA-EC34AA05F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endParaRPr lang="en-US"/>
          </a:p>
        </p:txBody>
      </p:sp>
      <p:pic>
        <p:nvPicPr>
          <p:cNvPr id="2050" name="Picture 2" descr="Delta Lake vs. Parquet Comparison | Delta Lake">
            <a:extLst>
              <a:ext uri="{FF2B5EF4-FFF2-40B4-BE49-F238E27FC236}">
                <a16:creationId xmlns:a16="http://schemas.microsoft.com/office/drawing/2014/main" id="{58D7C8A6-B6EF-C65D-0F4A-A34537C1B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3"/>
          <a:stretch>
            <a:fillRect/>
          </a:stretch>
        </p:blipFill>
        <p:spPr bwMode="auto">
          <a:xfrm>
            <a:off x="6529111" y="2505075"/>
            <a:ext cx="4469366" cy="368458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50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8B98A-0BDF-07A7-236E-FE270F32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Demo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316E5-E657-4C42-D69C-6AF4AA91A5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CH" dirty="0" err="1"/>
              <a:t>MeteoSwiss</a:t>
            </a:r>
            <a:r>
              <a:rPr lang="fr-CH" dirty="0"/>
              <a:t> data, </a:t>
            </a:r>
            <a:r>
              <a:rPr lang="fr-CH" dirty="0" err="1"/>
              <a:t>partitioned</a:t>
            </a:r>
            <a:r>
              <a:rPr lang="fr-CH" dirty="0"/>
              <a:t> in </a:t>
            </a:r>
            <a:r>
              <a:rPr lang="fr-CH" dirty="0" err="1"/>
              <a:t>two</a:t>
            </a:r>
            <a:r>
              <a:rPr lang="fr-CH" dirty="0"/>
              <a:t> delta </a:t>
            </a:r>
            <a:r>
              <a:rPr lang="fr-CH" dirty="0" err="1"/>
              <a:t>lakes</a:t>
            </a:r>
            <a:r>
              <a:rPr lang="fr-CH" dirty="0"/>
              <a:t> (by </a:t>
            </a:r>
            <a:r>
              <a:rPr lang="fr-CH" dirty="0" err="1"/>
              <a:t>day</a:t>
            </a:r>
            <a:r>
              <a:rPr lang="fr-CH" dirty="0"/>
              <a:t>/by </a:t>
            </a:r>
            <a:r>
              <a:rPr lang="fr-CH" dirty="0" err="1"/>
              <a:t>year</a:t>
            </a:r>
            <a:r>
              <a:rPr lang="fr-CH" dirty="0"/>
              <a:t>)</a:t>
            </a:r>
          </a:p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queries</a:t>
            </a:r>
            <a:r>
              <a:rPr lang="fr-FR" dirty="0"/>
              <a:t>: </a:t>
            </a:r>
            <a:r>
              <a:rPr lang="fr-FR" dirty="0" err="1"/>
              <a:t>query</a:t>
            </a:r>
            <a:r>
              <a:rPr lang="fr-FR" dirty="0"/>
              <a:t> on a </a:t>
            </a:r>
            <a:r>
              <a:rPr lang="fr-FR" dirty="0" err="1"/>
              <a:t>day</a:t>
            </a:r>
            <a:r>
              <a:rPr lang="fr-FR" dirty="0"/>
              <a:t>, </a:t>
            </a:r>
            <a:r>
              <a:rPr lang="fr-FR" dirty="0" err="1"/>
              <a:t>query</a:t>
            </a:r>
            <a:r>
              <a:rPr lang="fr-FR" dirty="0"/>
              <a:t> on 3 </a:t>
            </a:r>
            <a:r>
              <a:rPr lang="fr-FR" dirty="0" err="1"/>
              <a:t>years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731188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70A49-1FAA-108C-5A67-0B32B667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D89C7-6DC9-FA3A-58FE-7E73B3D022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CH" dirty="0"/>
              <a:t>1-day </a:t>
            </a:r>
            <a:r>
              <a:rPr lang="fr-CH" dirty="0" err="1"/>
              <a:t>query</a:t>
            </a:r>
            <a:r>
              <a:rPr lang="fr-CH" dirty="0"/>
              <a:t> on </a:t>
            </a:r>
            <a:r>
              <a:rPr lang="fr-CH" dirty="0" err="1"/>
              <a:t>day-partitioned</a:t>
            </a:r>
            <a:r>
              <a:rPr lang="fr-CH" dirty="0"/>
              <a:t> data: </a:t>
            </a:r>
            <a:r>
              <a:rPr lang="fr-CH" dirty="0" err="1"/>
              <a:t>query</a:t>
            </a:r>
            <a:r>
              <a:rPr lang="fr-CH" dirty="0"/>
              <a:t> matches </a:t>
            </a:r>
            <a:r>
              <a:rPr lang="fr-CH" dirty="0" err="1"/>
              <a:t>partitioning</a:t>
            </a:r>
            <a:r>
              <a:rPr lang="fr-CH" dirty="0"/>
              <a:t>: </a:t>
            </a:r>
            <a:r>
              <a:rPr lang="fr-CH" dirty="0" err="1"/>
              <a:t>perfect</a:t>
            </a:r>
            <a:r>
              <a:rPr lang="fr-CH" dirty="0"/>
              <a:t> </a:t>
            </a:r>
            <a:r>
              <a:rPr lang="fr-CH" dirty="0" err="1"/>
              <a:t>pruning</a:t>
            </a:r>
            <a:endParaRPr lang="fr-CH" dirty="0"/>
          </a:p>
          <a:p>
            <a:r>
              <a:rPr lang="fr-CH" dirty="0" err="1"/>
              <a:t>Same</a:t>
            </a:r>
            <a:r>
              <a:rPr lang="fr-CH" dirty="0"/>
              <a:t> </a:t>
            </a:r>
            <a:r>
              <a:rPr lang="fr-CH" dirty="0" err="1"/>
              <a:t>query</a:t>
            </a:r>
            <a:r>
              <a:rPr lang="fr-CH" dirty="0"/>
              <a:t> on </a:t>
            </a:r>
            <a:r>
              <a:rPr lang="fr-CH" dirty="0" err="1"/>
              <a:t>year-partitioned</a:t>
            </a:r>
            <a:r>
              <a:rPr lang="fr-CH" dirty="0"/>
              <a:t>: </a:t>
            </a:r>
            <a:r>
              <a:rPr lang="fr-CH" dirty="0" err="1"/>
              <a:t>weaker</a:t>
            </a:r>
            <a:r>
              <a:rPr lang="fr-CH" dirty="0"/>
              <a:t> </a:t>
            </a:r>
            <a:r>
              <a:rPr lang="fr-CH" dirty="0" err="1"/>
              <a:t>pruning</a:t>
            </a:r>
            <a:r>
              <a:rPr lang="fr-CH" dirty="0"/>
              <a:t>, </a:t>
            </a:r>
            <a:r>
              <a:rPr lang="fr-CH" dirty="0" err="1"/>
              <a:t>bigger</a:t>
            </a:r>
            <a:r>
              <a:rPr lang="fr-CH" dirty="0"/>
              <a:t> file to </a:t>
            </a:r>
            <a:r>
              <a:rPr lang="fr-CH" dirty="0" err="1"/>
              <a:t>filter</a:t>
            </a:r>
            <a:r>
              <a:rPr lang="fr-CH" dirty="0"/>
              <a:t> on but </a:t>
            </a:r>
            <a:r>
              <a:rPr lang="fr-CH" dirty="0" err="1"/>
              <a:t>smaller</a:t>
            </a:r>
            <a:r>
              <a:rPr lang="fr-CH" dirty="0"/>
              <a:t> delta log to </a:t>
            </a:r>
            <a:r>
              <a:rPr lang="fr-CH" dirty="0" err="1"/>
              <a:t>read</a:t>
            </a:r>
            <a:r>
              <a:rPr lang="fr-CH" dirty="0"/>
              <a:t> -&gt; </a:t>
            </a:r>
            <a:r>
              <a:rPr lang="fr-CH" dirty="0" err="1"/>
              <a:t>still</a:t>
            </a:r>
            <a:r>
              <a:rPr lang="fr-CH" dirty="0"/>
              <a:t> about the </a:t>
            </a:r>
            <a:r>
              <a:rPr lang="fr-CH" dirty="0" err="1"/>
              <a:t>same</a:t>
            </a:r>
            <a:r>
              <a:rPr lang="fr-CH" dirty="0"/>
              <a:t> time</a:t>
            </a:r>
          </a:p>
          <a:p>
            <a:endParaRPr lang="fr-CH" dirty="0"/>
          </a:p>
          <a:p>
            <a:r>
              <a:rPr lang="fr-CH" dirty="0"/>
              <a:t>3-year </a:t>
            </a:r>
            <a:r>
              <a:rPr lang="fr-CH" dirty="0" err="1"/>
              <a:t>query</a:t>
            </a:r>
            <a:r>
              <a:rPr lang="fr-CH" dirty="0"/>
              <a:t> on </a:t>
            </a:r>
            <a:r>
              <a:rPr lang="fr-CH" dirty="0" err="1"/>
              <a:t>day-partitioned</a:t>
            </a:r>
            <a:r>
              <a:rPr lang="fr-CH" dirty="0"/>
              <a:t> data: opens about 1000 </a:t>
            </a:r>
            <a:r>
              <a:rPr lang="fr-CH" dirty="0" err="1"/>
              <a:t>tiny</a:t>
            </a:r>
            <a:r>
              <a:rPr lang="fr-CH" dirty="0"/>
              <a:t> files -&gt; big per-file open </a:t>
            </a:r>
            <a:r>
              <a:rPr lang="fr-CH" dirty="0" err="1"/>
              <a:t>cost</a:t>
            </a:r>
            <a:r>
              <a:rPr lang="fr-CH" dirty="0"/>
              <a:t>.</a:t>
            </a:r>
          </a:p>
          <a:p>
            <a:r>
              <a:rPr lang="fr-CH" dirty="0" err="1"/>
              <a:t>Same</a:t>
            </a:r>
            <a:r>
              <a:rPr lang="fr-CH" dirty="0"/>
              <a:t> </a:t>
            </a:r>
            <a:r>
              <a:rPr lang="fr-CH" dirty="0" err="1"/>
              <a:t>query</a:t>
            </a:r>
            <a:r>
              <a:rPr lang="fr-CH" dirty="0"/>
              <a:t> on </a:t>
            </a:r>
            <a:r>
              <a:rPr lang="fr-CH" dirty="0" err="1"/>
              <a:t>year-partitioned</a:t>
            </a:r>
            <a:r>
              <a:rPr lang="fr-CH" dirty="0"/>
              <a:t> data opens 3 files: fast, </a:t>
            </a:r>
            <a:r>
              <a:rPr lang="fr-CH" dirty="0" err="1"/>
              <a:t>correctly</a:t>
            </a:r>
            <a:r>
              <a:rPr lang="fr-CH" dirty="0"/>
              <a:t> </a:t>
            </a:r>
            <a:r>
              <a:rPr lang="fr-CH" dirty="0" err="1"/>
              <a:t>pruned</a:t>
            </a:r>
            <a:endParaRPr lang="fr-CH" dirty="0"/>
          </a:p>
          <a:p>
            <a:endParaRPr lang="fr-CH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804376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21218-9FB0-C496-C30C-E75D5E5B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choose</a:t>
            </a:r>
            <a:r>
              <a:rPr lang="fr-FR" dirty="0"/>
              <a:t> the right </a:t>
            </a:r>
            <a:r>
              <a:rPr lang="fr-FR" dirty="0" err="1"/>
              <a:t>partitioning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0B466-4272-3CC4-5463-ABB2F92EE4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FR" dirty="0"/>
              <a:t>Matching </a:t>
            </a:r>
            <a:r>
              <a:rPr lang="fr-FR" dirty="0" err="1"/>
              <a:t>partitioning</a:t>
            </a:r>
            <a:r>
              <a:rPr lang="fr-FR" dirty="0"/>
              <a:t> size to </a:t>
            </a:r>
            <a:r>
              <a:rPr lang="fr-FR" dirty="0" err="1"/>
              <a:t>intended</a:t>
            </a:r>
            <a:r>
              <a:rPr lang="fr-FR" dirty="0"/>
              <a:t> </a:t>
            </a:r>
            <a:r>
              <a:rPr lang="fr-FR" dirty="0" err="1"/>
              <a:t>queries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optimal</a:t>
            </a:r>
          </a:p>
          <a:p>
            <a:r>
              <a:rPr lang="fr-FR" dirty="0"/>
              <a:t>If </a:t>
            </a:r>
            <a:r>
              <a:rPr lang="fr-FR" dirty="0" err="1"/>
              <a:t>different</a:t>
            </a:r>
            <a:r>
              <a:rPr lang="fr-FR" dirty="0"/>
              <a:t> range of </a:t>
            </a:r>
            <a:r>
              <a:rPr lang="fr-FR" dirty="0" err="1"/>
              <a:t>queries</a:t>
            </a:r>
            <a:r>
              <a:rPr lang="fr-FR" dirty="0"/>
              <a:t>: </a:t>
            </a:r>
            <a:r>
              <a:rPr lang="fr-CH" dirty="0"/>
              <a:t>partition at the </a:t>
            </a:r>
            <a:r>
              <a:rPr lang="fr-CH" dirty="0" err="1"/>
              <a:t>coarsest</a:t>
            </a:r>
            <a:r>
              <a:rPr lang="fr-CH" dirty="0"/>
              <a:t> </a:t>
            </a:r>
            <a:r>
              <a:rPr lang="fr-CH" dirty="0" err="1"/>
              <a:t>level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</a:t>
            </a:r>
            <a:r>
              <a:rPr lang="fr-CH" dirty="0" err="1"/>
              <a:t>still</a:t>
            </a:r>
            <a:r>
              <a:rPr lang="fr-CH" dirty="0"/>
              <a:t> </a:t>
            </a:r>
            <a:r>
              <a:rPr lang="fr-CH" dirty="0" err="1"/>
              <a:t>lets</a:t>
            </a:r>
            <a:r>
              <a:rPr lang="fr-CH" dirty="0"/>
              <a:t> </a:t>
            </a:r>
            <a:r>
              <a:rPr lang="fr-CH" dirty="0" err="1"/>
              <a:t>common</a:t>
            </a:r>
            <a:r>
              <a:rPr lang="fr-CH" dirty="0"/>
              <a:t> </a:t>
            </a:r>
            <a:r>
              <a:rPr lang="fr-CH" dirty="0" err="1"/>
              <a:t>queries</a:t>
            </a:r>
            <a:r>
              <a:rPr lang="fr-CH" dirty="0"/>
              <a:t> skip </a:t>
            </a:r>
            <a:r>
              <a:rPr lang="fr-CH" dirty="0" err="1"/>
              <a:t>most</a:t>
            </a:r>
            <a:r>
              <a:rPr lang="fr-CH" dirty="0"/>
              <a:t> of the data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Target file sizes: 1GB, (down to 200 MB for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lakes</a:t>
            </a:r>
            <a:r>
              <a:rPr lang="fr-FR" dirty="0"/>
              <a:t>).</a:t>
            </a:r>
          </a:p>
          <a:p>
            <a:r>
              <a:rPr lang="fr-FR" dirty="0"/>
              <a:t>Compact </a:t>
            </a:r>
            <a:r>
              <a:rPr lang="fr-FR" dirty="0" err="1"/>
              <a:t>small</a:t>
            </a:r>
            <a:r>
              <a:rPr lang="fr-FR" dirty="0"/>
              <a:t> files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larger</a:t>
            </a:r>
            <a:r>
              <a:rPr lang="fr-FR" dirty="0"/>
              <a:t> files </a:t>
            </a:r>
            <a:r>
              <a:rPr lang="fr-FR" dirty="0" err="1"/>
              <a:t>with</a:t>
            </a:r>
            <a:r>
              <a:rPr lang="fr-FR" dirty="0"/>
              <a:t> delta </a:t>
            </a:r>
            <a:r>
              <a:rPr lang="fr-FR" dirty="0" err="1"/>
              <a:t>optimize</a:t>
            </a:r>
            <a:endParaRPr lang="fr-FR" dirty="0"/>
          </a:p>
          <a:p>
            <a:endParaRPr lang="fr-FR" dirty="0"/>
          </a:p>
          <a:p>
            <a:r>
              <a:rPr lang="fr-CH" dirty="0"/>
              <a:t>Use delta data </a:t>
            </a:r>
            <a:r>
              <a:rPr lang="fr-CH" dirty="0" err="1"/>
              <a:t>skipping</a:t>
            </a:r>
            <a:r>
              <a:rPr lang="fr-CH" dirty="0"/>
              <a:t> to </a:t>
            </a:r>
            <a:r>
              <a:rPr lang="fr-CH" dirty="0" err="1"/>
              <a:t>handle</a:t>
            </a:r>
            <a:r>
              <a:rPr lang="fr-CH" dirty="0"/>
              <a:t> fine-</a:t>
            </a:r>
            <a:r>
              <a:rPr lang="fr-CH" dirty="0" err="1"/>
              <a:t>grained</a:t>
            </a:r>
            <a:r>
              <a:rPr lang="fr-CH" dirty="0"/>
              <a:t> </a:t>
            </a:r>
            <a:r>
              <a:rPr lang="fr-CH" dirty="0" err="1"/>
              <a:t>pruning</a:t>
            </a:r>
            <a:r>
              <a:rPr lang="fr-CH" dirty="0"/>
              <a:t> </a:t>
            </a:r>
            <a:r>
              <a:rPr lang="fr-CH" dirty="0" err="1"/>
              <a:t>inside</a:t>
            </a:r>
            <a:r>
              <a:rPr lang="fr-CH" dirty="0"/>
              <a:t> a </a:t>
            </a:r>
            <a:r>
              <a:rPr lang="fr-CH" dirty="0" err="1"/>
              <a:t>coarse</a:t>
            </a:r>
            <a:r>
              <a:rPr lang="fr-CH" dirty="0"/>
              <a:t> partition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2645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D91C4C-D91D-133B-2684-D1479AE8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091" y="764704"/>
            <a:ext cx="9319557" cy="5328591"/>
          </a:xfrm>
        </p:spPr>
        <p:txBody>
          <a:bodyPr/>
          <a:lstStyle/>
          <a:p>
            <a:pPr algn="ctr"/>
            <a:r>
              <a:rPr lang="fr-FR" dirty="0" err="1"/>
              <a:t>Thanks</a:t>
            </a:r>
            <a:r>
              <a:rPr lang="fr-FR" dirty="0"/>
              <a:t> for </a:t>
            </a:r>
            <a:r>
              <a:rPr lang="fr-FR" dirty="0" err="1"/>
              <a:t>listening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Any</a:t>
            </a:r>
            <a:r>
              <a:rPr lang="fr-FR" dirty="0"/>
              <a:t> questions ?</a:t>
            </a:r>
          </a:p>
        </p:txBody>
      </p:sp>
    </p:spTree>
    <p:extLst>
      <p:ext uri="{BB962C8B-B14F-4D97-AF65-F5344CB8AC3E}">
        <p14:creationId xmlns:p14="http://schemas.microsoft.com/office/powerpoint/2010/main" val="10486987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534</Words>
  <Application>Microsoft Macintosh PowerPoint</Application>
  <PresentationFormat>Grand écran</PresentationFormat>
  <Paragraphs>47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Century Gothic</vt:lpstr>
      <vt:lpstr>Open Sans</vt:lpstr>
      <vt:lpstr>Open Sans Light</vt:lpstr>
      <vt:lpstr>Thème Office</vt:lpstr>
      <vt:lpstr>Partitioning and the small-files problem</vt:lpstr>
      <vt:lpstr>What is partitioning and why use it</vt:lpstr>
      <vt:lpstr>What takes time in a Spark query</vt:lpstr>
      <vt:lpstr>Delta lake</vt:lpstr>
      <vt:lpstr>Demo</vt:lpstr>
      <vt:lpstr>Demo results </vt:lpstr>
      <vt:lpstr>How to choose the right partitioning</vt:lpstr>
      <vt:lpstr>Thanks for listening  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gaetan.veuilletpv@gmail.com</dc:creator>
  <cp:lastModifiedBy>Weber Benno</cp:lastModifiedBy>
  <cp:revision>21</cp:revision>
  <dcterms:created xsi:type="dcterms:W3CDTF">2026-09-23T10:01:22Z</dcterms:created>
  <dcterms:modified xsi:type="dcterms:W3CDTF">2026-09-27T14:17:11Z</dcterms:modified>
</cp:coreProperties>
</file>